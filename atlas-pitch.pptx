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9764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Shape 1"/>
          <p:cNvSpPr/>
          <p:nvPr/>
        </p:nvSpPr>
        <p:spPr>
          <a:xfrm>
            <a:off x="5303520" y="0"/>
            <a:ext cx="54864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" name="Shape 2"/>
          <p:cNvSpPr/>
          <p:nvPr/>
        </p:nvSpPr>
        <p:spPr>
          <a:xfrm>
            <a:off x="5760720" y="41148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6263640" y="41148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6766560" y="41148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Shape 5"/>
          <p:cNvSpPr/>
          <p:nvPr/>
        </p:nvSpPr>
        <p:spPr>
          <a:xfrm>
            <a:off x="7269480" y="41148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8" name="Shape 6"/>
          <p:cNvSpPr/>
          <p:nvPr/>
        </p:nvSpPr>
        <p:spPr>
          <a:xfrm>
            <a:off x="7772400" y="41148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Shape 7"/>
          <p:cNvSpPr/>
          <p:nvPr/>
        </p:nvSpPr>
        <p:spPr>
          <a:xfrm>
            <a:off x="8275320" y="41148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8"/>
          <p:cNvSpPr/>
          <p:nvPr/>
        </p:nvSpPr>
        <p:spPr>
          <a:xfrm>
            <a:off x="5760720" y="91440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Shape 9"/>
          <p:cNvSpPr/>
          <p:nvPr/>
        </p:nvSpPr>
        <p:spPr>
          <a:xfrm>
            <a:off x="6263640" y="91440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Shape 10"/>
          <p:cNvSpPr/>
          <p:nvPr/>
        </p:nvSpPr>
        <p:spPr>
          <a:xfrm>
            <a:off x="6766560" y="91440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Shape 11"/>
          <p:cNvSpPr/>
          <p:nvPr/>
        </p:nvSpPr>
        <p:spPr>
          <a:xfrm>
            <a:off x="7269480" y="91440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Shape 12"/>
          <p:cNvSpPr/>
          <p:nvPr/>
        </p:nvSpPr>
        <p:spPr>
          <a:xfrm>
            <a:off x="7772400" y="91440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Shape 13"/>
          <p:cNvSpPr/>
          <p:nvPr/>
        </p:nvSpPr>
        <p:spPr>
          <a:xfrm>
            <a:off x="8275320" y="91440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Shape 14"/>
          <p:cNvSpPr/>
          <p:nvPr/>
        </p:nvSpPr>
        <p:spPr>
          <a:xfrm>
            <a:off x="5760720" y="141732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Shape 15"/>
          <p:cNvSpPr/>
          <p:nvPr/>
        </p:nvSpPr>
        <p:spPr>
          <a:xfrm>
            <a:off x="6263640" y="141732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Shape 16"/>
          <p:cNvSpPr/>
          <p:nvPr/>
        </p:nvSpPr>
        <p:spPr>
          <a:xfrm>
            <a:off x="6766560" y="141732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Shape 17"/>
          <p:cNvSpPr/>
          <p:nvPr/>
        </p:nvSpPr>
        <p:spPr>
          <a:xfrm>
            <a:off x="7269480" y="141732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Shape 18"/>
          <p:cNvSpPr/>
          <p:nvPr/>
        </p:nvSpPr>
        <p:spPr>
          <a:xfrm>
            <a:off x="7772400" y="141732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Shape 19"/>
          <p:cNvSpPr/>
          <p:nvPr/>
        </p:nvSpPr>
        <p:spPr>
          <a:xfrm>
            <a:off x="8275320" y="141732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Shape 20"/>
          <p:cNvSpPr/>
          <p:nvPr/>
        </p:nvSpPr>
        <p:spPr>
          <a:xfrm>
            <a:off x="5760720" y="192024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3" name="Shape 21"/>
          <p:cNvSpPr/>
          <p:nvPr/>
        </p:nvSpPr>
        <p:spPr>
          <a:xfrm>
            <a:off x="6263640" y="192024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Shape 22"/>
          <p:cNvSpPr/>
          <p:nvPr/>
        </p:nvSpPr>
        <p:spPr>
          <a:xfrm>
            <a:off x="6766560" y="192024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Shape 23"/>
          <p:cNvSpPr/>
          <p:nvPr/>
        </p:nvSpPr>
        <p:spPr>
          <a:xfrm>
            <a:off x="7269480" y="192024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Shape 24"/>
          <p:cNvSpPr/>
          <p:nvPr/>
        </p:nvSpPr>
        <p:spPr>
          <a:xfrm>
            <a:off x="7772400" y="192024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7" name="Shape 25"/>
          <p:cNvSpPr/>
          <p:nvPr/>
        </p:nvSpPr>
        <p:spPr>
          <a:xfrm>
            <a:off x="8275320" y="192024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8" name="Shape 26"/>
          <p:cNvSpPr/>
          <p:nvPr/>
        </p:nvSpPr>
        <p:spPr>
          <a:xfrm>
            <a:off x="5760720" y="242316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9" name="Shape 27"/>
          <p:cNvSpPr/>
          <p:nvPr/>
        </p:nvSpPr>
        <p:spPr>
          <a:xfrm>
            <a:off x="6263640" y="242316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0" name="Shape 28"/>
          <p:cNvSpPr/>
          <p:nvPr/>
        </p:nvSpPr>
        <p:spPr>
          <a:xfrm>
            <a:off x="6766560" y="242316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1" name="Shape 29"/>
          <p:cNvSpPr/>
          <p:nvPr/>
        </p:nvSpPr>
        <p:spPr>
          <a:xfrm>
            <a:off x="7269480" y="242316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2" name="Shape 30"/>
          <p:cNvSpPr/>
          <p:nvPr/>
        </p:nvSpPr>
        <p:spPr>
          <a:xfrm>
            <a:off x="7772400" y="242316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3" name="Shape 31"/>
          <p:cNvSpPr/>
          <p:nvPr/>
        </p:nvSpPr>
        <p:spPr>
          <a:xfrm>
            <a:off x="8275320" y="242316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4" name="Shape 32"/>
          <p:cNvSpPr/>
          <p:nvPr/>
        </p:nvSpPr>
        <p:spPr>
          <a:xfrm>
            <a:off x="5760720" y="292608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5" name="Shape 33"/>
          <p:cNvSpPr/>
          <p:nvPr/>
        </p:nvSpPr>
        <p:spPr>
          <a:xfrm>
            <a:off x="6263640" y="292608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6" name="Shape 34"/>
          <p:cNvSpPr/>
          <p:nvPr/>
        </p:nvSpPr>
        <p:spPr>
          <a:xfrm>
            <a:off x="6766560" y="292608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7" name="Shape 35"/>
          <p:cNvSpPr/>
          <p:nvPr/>
        </p:nvSpPr>
        <p:spPr>
          <a:xfrm>
            <a:off x="7269480" y="292608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8" name="Shape 36"/>
          <p:cNvSpPr/>
          <p:nvPr/>
        </p:nvSpPr>
        <p:spPr>
          <a:xfrm>
            <a:off x="7772400" y="292608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9" name="Shape 37"/>
          <p:cNvSpPr/>
          <p:nvPr/>
        </p:nvSpPr>
        <p:spPr>
          <a:xfrm>
            <a:off x="8275320" y="292608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0" name="Shape 38"/>
          <p:cNvSpPr/>
          <p:nvPr/>
        </p:nvSpPr>
        <p:spPr>
          <a:xfrm>
            <a:off x="5760720" y="342900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1" name="Shape 39"/>
          <p:cNvSpPr/>
          <p:nvPr/>
        </p:nvSpPr>
        <p:spPr>
          <a:xfrm>
            <a:off x="6263640" y="342900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2" name="Shape 40"/>
          <p:cNvSpPr/>
          <p:nvPr/>
        </p:nvSpPr>
        <p:spPr>
          <a:xfrm>
            <a:off x="6766560" y="342900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3" name="Shape 41"/>
          <p:cNvSpPr/>
          <p:nvPr/>
        </p:nvSpPr>
        <p:spPr>
          <a:xfrm>
            <a:off x="7269480" y="342900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4" name="Shape 42"/>
          <p:cNvSpPr/>
          <p:nvPr/>
        </p:nvSpPr>
        <p:spPr>
          <a:xfrm>
            <a:off x="7772400" y="342900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5" name="Shape 43"/>
          <p:cNvSpPr/>
          <p:nvPr/>
        </p:nvSpPr>
        <p:spPr>
          <a:xfrm>
            <a:off x="8275320" y="3429000"/>
            <a:ext cx="64008" cy="64008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6" name="Text 44"/>
          <p:cNvSpPr/>
          <p:nvPr/>
        </p:nvSpPr>
        <p:spPr>
          <a:xfrm>
            <a:off x="502920" y="10058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7200" b="1" kern="0" spc="8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s-CL" sz="7200" noProof="0" dirty="0"/>
          </a:p>
        </p:txBody>
      </p:sp>
      <p:sp>
        <p:nvSpPr>
          <p:cNvPr id="47" name="Shape 45"/>
          <p:cNvSpPr/>
          <p:nvPr/>
        </p:nvSpPr>
        <p:spPr>
          <a:xfrm>
            <a:off x="502920" y="2011679"/>
            <a:ext cx="2762794" cy="54269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8" name="Text 46"/>
          <p:cNvSpPr/>
          <p:nvPr/>
        </p:nvSpPr>
        <p:spPr>
          <a:xfrm>
            <a:off x="50292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8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vivo de tu software</a:t>
            </a:r>
            <a:endParaRPr lang="es-CL" sz="1800" noProof="0" dirty="0"/>
          </a:p>
        </p:txBody>
      </p:sp>
      <p:sp>
        <p:nvSpPr>
          <p:cNvPr id="49" name="Text 47"/>
          <p:cNvSpPr/>
          <p:nvPr/>
        </p:nvSpPr>
        <p:spPr>
          <a:xfrm>
            <a:off x="502920" y="2697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1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· Visualización · Arquitectura </a:t>
            </a:r>
            <a:r>
              <a:rPr lang="es-CL" sz="1100" noProof="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s-CL" sz="1100" noProof="0" dirty="0"/>
          </a:p>
        </p:txBody>
      </p:sp>
      <p:sp>
        <p:nvSpPr>
          <p:cNvPr id="50" name="Text 48"/>
          <p:cNvSpPr/>
          <p:nvPr/>
        </p:nvSpPr>
        <p:spPr>
          <a:xfrm>
            <a:off x="50292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9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para el equipo de desarrollo de RMES</a:t>
            </a:r>
            <a:endParaRPr lang="es-CL" sz="900" noProof="0" dirty="0"/>
          </a:p>
        </p:txBody>
      </p:sp>
      <p:sp>
        <p:nvSpPr>
          <p:cNvPr id="51" name="Text 49"/>
          <p:cNvSpPr/>
          <p:nvPr/>
        </p:nvSpPr>
        <p:spPr>
          <a:xfrm>
            <a:off x="58521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200" noProof="0" dirty="0">
                <a:solidFill>
                  <a:srgbClr val="000000"/>
                </a:solidFill>
              </a:rPr>
              <a:t>📦</a:t>
            </a:r>
            <a:endParaRPr lang="es-CL" sz="2200" noProof="0" dirty="0"/>
          </a:p>
        </p:txBody>
      </p:sp>
      <p:sp>
        <p:nvSpPr>
          <p:cNvPr id="52" name="Text 50"/>
          <p:cNvSpPr/>
          <p:nvPr/>
        </p:nvSpPr>
        <p:spPr>
          <a:xfrm>
            <a:off x="635508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s-CL" sz="1300" noProof="0" dirty="0"/>
          </a:p>
        </p:txBody>
      </p:sp>
      <p:sp>
        <p:nvSpPr>
          <p:cNvPr id="53" name="Text 51"/>
          <p:cNvSpPr/>
          <p:nvPr/>
        </p:nvSpPr>
        <p:spPr>
          <a:xfrm>
            <a:off x="58521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200" noProof="0" dirty="0">
                <a:solidFill>
                  <a:srgbClr val="000000"/>
                </a:solidFill>
              </a:rPr>
              <a:t>⚙️</a:t>
            </a:r>
            <a:endParaRPr lang="es-CL" sz="2200" noProof="0" dirty="0"/>
          </a:p>
        </p:txBody>
      </p:sp>
      <p:sp>
        <p:nvSpPr>
          <p:cNvPr id="54" name="Text 52"/>
          <p:cNvSpPr/>
          <p:nvPr/>
        </p:nvSpPr>
        <p:spPr>
          <a:xfrm>
            <a:off x="635508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s-CL" sz="1300" noProof="0" dirty="0"/>
          </a:p>
        </p:txBody>
      </p:sp>
      <p:sp>
        <p:nvSpPr>
          <p:cNvPr id="55" name="Text 53"/>
          <p:cNvSpPr/>
          <p:nvPr/>
        </p:nvSpPr>
        <p:spPr>
          <a:xfrm>
            <a:off x="58521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200" noProof="0" dirty="0">
                <a:solidFill>
                  <a:srgbClr val="000000"/>
                </a:solidFill>
              </a:rPr>
              <a:t>↔️</a:t>
            </a:r>
            <a:endParaRPr lang="es-CL" sz="2200" noProof="0" dirty="0"/>
          </a:p>
        </p:txBody>
      </p:sp>
      <p:sp>
        <p:nvSpPr>
          <p:cNvPr id="56" name="Text 54"/>
          <p:cNvSpPr/>
          <p:nvPr/>
        </p:nvSpPr>
        <p:spPr>
          <a:xfrm>
            <a:off x="635508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</a:t>
            </a:r>
            <a:endParaRPr lang="es-CL" sz="1300" noProof="0" dirty="0"/>
          </a:p>
        </p:txBody>
      </p:sp>
      <p:sp>
        <p:nvSpPr>
          <p:cNvPr id="57" name="Text 55"/>
          <p:cNvSpPr/>
          <p:nvPr/>
        </p:nvSpPr>
        <p:spPr>
          <a:xfrm>
            <a:off x="58521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200" noProof="0" dirty="0">
                <a:solidFill>
                  <a:srgbClr val="000000"/>
                </a:solidFill>
              </a:rPr>
              <a:t>📊</a:t>
            </a:r>
            <a:endParaRPr lang="es-CL" sz="2200" noProof="0" dirty="0"/>
          </a:p>
        </p:txBody>
      </p:sp>
      <p:sp>
        <p:nvSpPr>
          <p:cNvPr id="58" name="Text 56"/>
          <p:cNvSpPr/>
          <p:nvPr/>
        </p:nvSpPr>
        <p:spPr>
          <a:xfrm>
            <a:off x="635508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300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r>
              <a:rPr lang="es-CL" sz="13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</a:t>
            </a:r>
            <a:endParaRPr lang="es-CL" sz="13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28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s-CL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383280"/>
          </a:xfrm>
          <a:prstGeom prst="rect">
            <a:avLst/>
          </a:prstGeom>
          <a:solidFill>
            <a:srgbClr val="0F1F3D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5720" cy="3383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3600" noProof="0" dirty="0">
                <a:solidFill>
                  <a:srgbClr val="000000"/>
                </a:solidFill>
              </a:rPr>
              <a:t>🧠</a:t>
            </a:r>
            <a:endParaRPr lang="es-CL" sz="3600" noProof="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concentrado</a:t>
            </a:r>
            <a:endParaRPr lang="es-CL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CL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entendimiento de cómo funciona el sistema vive en la cabeza de 1 o 2 personas. Si se van, el equipo queda a ciegas.</a:t>
            </a:r>
            <a:endParaRPr lang="es-CL" sz="1000" noProof="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3383280"/>
          </a:xfrm>
          <a:prstGeom prst="rect">
            <a:avLst/>
          </a:prstGeom>
          <a:solidFill>
            <a:srgbClr val="0F1F3D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45720" cy="3383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3337560" y="1143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3600" noProof="0" dirty="0">
                <a:solidFill>
                  <a:srgbClr val="000000"/>
                </a:solidFill>
              </a:rPr>
              <a:t>📄</a:t>
            </a:r>
            <a:endParaRPr lang="es-CL" sz="3600" noProof="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inexistente o desactualizada</a:t>
            </a:r>
            <a:endParaRPr lang="es-CL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3337560" y="25146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CL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wikis se escriben una vez y nunca se actualizan. Nadie confía en ellos. Nadie los lee.</a:t>
            </a:r>
            <a:endParaRPr lang="es-CL" sz="1000" noProof="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3383280"/>
          </a:xfrm>
          <a:prstGeom prst="rect">
            <a:avLst/>
          </a:prstGeom>
          <a:solidFill>
            <a:srgbClr val="0F1F3D"/>
          </a:solidFill>
          <a:ln w="12700">
            <a:solidFill>
              <a:srgbClr val="3B82F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45720" cy="3383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 14"/>
          <p:cNvSpPr/>
          <p:nvPr/>
        </p:nvSpPr>
        <p:spPr>
          <a:xfrm>
            <a:off x="6172200" y="1143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3600" noProof="0" dirty="0">
                <a:solidFill>
                  <a:srgbClr val="000000"/>
                </a:solidFill>
              </a:rPr>
              <a:t>🔍</a:t>
            </a:r>
            <a:endParaRPr lang="es-CL" sz="3600" noProof="0" dirty="0"/>
          </a:p>
        </p:txBody>
      </p:sp>
      <p:sp>
        <p:nvSpPr>
          <p:cNvPr id="17" name="Text 15"/>
          <p:cNvSpPr/>
          <p:nvPr/>
        </p:nvSpPr>
        <p:spPr>
          <a:xfrm>
            <a:off x="617220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r>
              <a:rPr lang="es-CL" sz="13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lento y costoso</a:t>
            </a:r>
            <a:endParaRPr lang="es-CL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6172200" y="25146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CL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</a:t>
            </a:r>
            <a:r>
              <a:rPr lang="es-CL" sz="10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</a:t>
            </a:r>
            <a:r>
              <a:rPr lang="es-CL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tardan semanas en entender cómo interactúan los módulos, quién llama a qué y por qué.</a:t>
            </a:r>
            <a:endParaRPr lang="es-CL" sz="1000" noProof="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00" i="1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¿Les suena familiar?</a:t>
            </a:r>
            <a:endParaRPr lang="es-CL" sz="12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28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Atlas?</a:t>
            </a:r>
            <a:endParaRPr lang="es-CL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900" b="1" noProof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gestión de conocimiento de producto.</a:t>
            </a:r>
            <a:endParaRPr lang="es-CL" sz="19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CL" sz="13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es una herramienta interna que permite a equipos técnicos </a:t>
            </a:r>
            <a:r>
              <a:rPr lang="es-CL" sz="13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y visualizar el </a:t>
            </a:r>
            <a:r>
              <a:rPr lang="es-CL" sz="1300" b="1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r>
              <a:rPr lang="es-CL" sz="13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sus sistemas: módulos, pantallas, componentes, flujos de usuario y dependencias entre módulos. Los </a:t>
            </a:r>
            <a:r>
              <a:rPr lang="es-CL" sz="13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r>
              <a:rPr lang="es-CL" sz="13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documentan el contrato con el </a:t>
            </a:r>
            <a:r>
              <a:rPr lang="es-CL" sz="13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r>
              <a:rPr lang="es-CL" sz="13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L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800" noProof="0" dirty="0">
                <a:solidFill>
                  <a:srgbClr val="000000"/>
                </a:solidFill>
              </a:rPr>
              <a:t>🗺️</a:t>
            </a:r>
            <a:endParaRPr lang="es-CL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1005840" y="27340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vivo — siempre actualizable</a:t>
            </a:r>
            <a:endParaRPr lang="es-CL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800" noProof="0" dirty="0">
                <a:solidFill>
                  <a:srgbClr val="000000"/>
                </a:solidFill>
              </a:rPr>
              <a:t>⚠️</a:t>
            </a:r>
            <a:endParaRPr lang="es-CL" sz="1800" noProof="0" dirty="0"/>
          </a:p>
        </p:txBody>
      </p:sp>
      <p:sp>
        <p:nvSpPr>
          <p:cNvPr id="9" name="Text 7"/>
          <p:cNvSpPr/>
          <p:nvPr/>
        </p:nvSpPr>
        <p:spPr>
          <a:xfrm>
            <a:off x="1005840" y="32826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de riesgos y bus factor</a:t>
            </a:r>
            <a:endParaRPr lang="es-CL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800" noProof="0" dirty="0">
                <a:solidFill>
                  <a:srgbClr val="000000"/>
                </a:solidFill>
              </a:rPr>
              <a:t>🚀</a:t>
            </a:r>
            <a:endParaRPr lang="es-CL" sz="1800" noProof="0" dirty="0"/>
          </a:p>
        </p:txBody>
      </p:sp>
      <p:sp>
        <p:nvSpPr>
          <p:cNvPr id="11" name="Text 9"/>
          <p:cNvSpPr/>
          <p:nvPr/>
        </p:nvSpPr>
        <p:spPr>
          <a:xfrm>
            <a:off x="1005840" y="38313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r>
              <a:rPr lang="es-CL" sz="12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acelerado para nuevos </a:t>
            </a:r>
            <a:r>
              <a:rPr lang="es-CL" sz="1200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</a:t>
            </a:r>
            <a:endParaRPr lang="es-CL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800" noProof="0" dirty="0">
                <a:solidFill>
                  <a:srgbClr val="000000"/>
                </a:solidFill>
              </a:rPr>
              <a:t>🤝</a:t>
            </a:r>
            <a:endParaRPr lang="es-CL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1005840" y="437997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entre PM y </a:t>
            </a:r>
            <a:r>
              <a:rPr lang="es-CL" sz="1200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s-CL" sz="1200" noProof="0" dirty="0"/>
          </a:p>
        </p:txBody>
      </p:sp>
      <p:sp>
        <p:nvSpPr>
          <p:cNvPr id="14" name="Shape 12"/>
          <p:cNvSpPr/>
          <p:nvPr/>
        </p:nvSpPr>
        <p:spPr>
          <a:xfrm>
            <a:off x="5669280" y="914400"/>
            <a:ext cx="3108960" cy="3840480"/>
          </a:xfrm>
          <a:prstGeom prst="rect">
            <a:avLst/>
          </a:prstGeom>
          <a:solidFill>
            <a:srgbClr val="0F1F3D"/>
          </a:solidFill>
          <a:ln w="12700">
            <a:solidFill>
              <a:srgbClr val="6366F1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Shape 13"/>
          <p:cNvSpPr/>
          <p:nvPr/>
        </p:nvSpPr>
        <p:spPr>
          <a:xfrm>
            <a:off x="5669280" y="914400"/>
            <a:ext cx="45720" cy="3840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 14"/>
          <p:cNvSpPr/>
          <p:nvPr/>
        </p:nvSpPr>
        <p:spPr>
          <a:xfrm>
            <a:off x="585216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000" noProof="0" dirty="0" err="1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r>
              <a:rPr lang="es-CL" sz="1000" noProof="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(RMES)</a:t>
            </a:r>
            <a:endParaRPr lang="es-CL" sz="1000" noProof="0" dirty="0"/>
          </a:p>
        </p:txBody>
      </p:sp>
      <p:sp>
        <p:nvSpPr>
          <p:cNvPr id="17" name="Text 15"/>
          <p:cNvSpPr/>
          <p:nvPr/>
        </p:nvSpPr>
        <p:spPr>
          <a:xfrm>
            <a:off x="6126480" y="1472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Módulo: </a:t>
            </a:r>
            <a:r>
              <a:rPr lang="es-CL" sz="1000" noProof="0" dirty="0" err="1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endParaRPr lang="es-CL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6400800" y="1892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</a:t>
            </a:r>
            <a:r>
              <a:rPr lang="es-CL" sz="1000" noProof="0" dirty="0" err="1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</a:t>
            </a:r>
            <a:r>
              <a:rPr lang="es-CL" sz="1000" noProof="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s-CL" sz="1000" noProof="0" dirty="0" err="1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</a:t>
            </a:r>
            <a:r>
              <a:rPr lang="es-CL" sz="1000" noProof="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SSO</a:t>
            </a:r>
            <a:endParaRPr lang="es-CL" sz="1000" noProof="0" dirty="0"/>
          </a:p>
        </p:txBody>
      </p:sp>
      <p:sp>
        <p:nvSpPr>
          <p:cNvPr id="19" name="Text 17"/>
          <p:cNvSpPr/>
          <p:nvPr/>
        </p:nvSpPr>
        <p:spPr>
          <a:xfrm>
            <a:off x="6675120" y="2313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 Flujo: 8 pasos</a:t>
            </a:r>
            <a:endParaRPr lang="es-CL" sz="1000" noProof="0" dirty="0"/>
          </a:p>
        </p:txBody>
      </p:sp>
      <p:sp>
        <p:nvSpPr>
          <p:cNvPr id="20" name="Text 18"/>
          <p:cNvSpPr/>
          <p:nvPr/>
        </p:nvSpPr>
        <p:spPr>
          <a:xfrm>
            <a:off x="6675120" y="27340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 API </a:t>
            </a:r>
            <a:r>
              <a:rPr lang="es-CL" sz="1000" noProof="0" dirty="0" err="1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endpoints</a:t>
            </a:r>
            <a:r>
              <a:rPr lang="es-CL" sz="1000" noProof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</a:t>
            </a:r>
            <a:endParaRPr lang="es-CL" sz="1000" noProof="0" dirty="0"/>
          </a:p>
        </p:txBody>
      </p:sp>
      <p:sp>
        <p:nvSpPr>
          <p:cNvPr id="21" name="Text 19"/>
          <p:cNvSpPr/>
          <p:nvPr/>
        </p:nvSpPr>
        <p:spPr>
          <a:xfrm>
            <a:off x="612648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Módulo: </a:t>
            </a:r>
            <a:r>
              <a:rPr lang="es-CL" sz="1000" noProof="0" dirty="0" err="1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</a:t>
            </a:r>
            <a:endParaRPr lang="es-CL" sz="1000" noProof="0" dirty="0"/>
          </a:p>
        </p:txBody>
      </p:sp>
      <p:sp>
        <p:nvSpPr>
          <p:cNvPr id="22" name="Text 20"/>
          <p:cNvSpPr/>
          <p:nvPr/>
        </p:nvSpPr>
        <p:spPr>
          <a:xfrm>
            <a:off x="6400800" y="35753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</a:t>
            </a:r>
            <a:r>
              <a:rPr lang="es-CL" sz="1000" noProof="0" dirty="0" err="1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</a:t>
            </a:r>
            <a:r>
              <a:rPr lang="es-CL" sz="1000" noProof="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Exportar</a:t>
            </a:r>
            <a:endParaRPr lang="es-CL" sz="1000" noProof="0" dirty="0"/>
          </a:p>
        </p:txBody>
      </p:sp>
      <p:sp>
        <p:nvSpPr>
          <p:cNvPr id="23" name="Text 21"/>
          <p:cNvSpPr/>
          <p:nvPr/>
        </p:nvSpPr>
        <p:spPr>
          <a:xfrm>
            <a:off x="6675120" y="3995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 Flujo: 5 pasos</a:t>
            </a:r>
            <a:endParaRPr lang="es-CL" sz="10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28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clave</a:t>
            </a:r>
            <a:endParaRPr lang="es-CL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1783080"/>
          </a:xfrm>
          <a:prstGeom prst="rect">
            <a:avLst/>
          </a:prstGeom>
          <a:solidFill>
            <a:srgbClr val="0F1F3D"/>
          </a:solidFill>
          <a:ln w="12700">
            <a:solidFill>
              <a:srgbClr val="6366F1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5720" cy="1783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200" noProof="0" dirty="0">
                <a:solidFill>
                  <a:srgbClr val="000000"/>
                </a:solidFill>
              </a:rPr>
              <a:t>📦</a:t>
            </a:r>
            <a:endParaRPr lang="es-CL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1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y </a:t>
            </a:r>
            <a:r>
              <a:rPr lang="es-CL" sz="1100" b="1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s-CL" sz="1100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tu sistema en módulos y funcionalidades con metadatos ricos: </a:t>
            </a:r>
            <a:r>
              <a:rPr lang="es-CL" sz="9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negocio, actores, reglas, deuda técnica.</a:t>
            </a:r>
            <a:endParaRPr lang="es-CL" sz="950" noProof="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1783080"/>
          </a:xfrm>
          <a:prstGeom prst="rect">
            <a:avLst/>
          </a:prstGeom>
          <a:solidFill>
            <a:srgbClr val="0F1F3D"/>
          </a:solidFill>
          <a:ln w="12700">
            <a:solidFill>
              <a:srgbClr val="3B82F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45720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3337560" y="11155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200" noProof="0" dirty="0">
                <a:solidFill>
                  <a:srgbClr val="000000"/>
                </a:solidFill>
              </a:rPr>
              <a:t>🌊</a:t>
            </a:r>
            <a:endParaRPr lang="es-CL" sz="2200" noProof="0" dirty="0"/>
          </a:p>
        </p:txBody>
      </p:sp>
      <p:sp>
        <p:nvSpPr>
          <p:cNvPr id="12" name="Text 10"/>
          <p:cNvSpPr/>
          <p:nvPr/>
        </p:nvSpPr>
        <p:spPr>
          <a:xfrm>
            <a:off x="3886200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1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Visuales</a:t>
            </a:r>
            <a:endParaRPr lang="es-CL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3337560" y="162763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flujos paso a paso en un </a:t>
            </a:r>
            <a:r>
              <a:rPr lang="es-CL" sz="9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swimlane</a:t>
            </a: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interactivo: actor, pantalla, componentes UI, servicios </a:t>
            </a:r>
            <a:r>
              <a:rPr lang="es-CL" sz="9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los </a:t>
            </a:r>
            <a:r>
              <a:rPr lang="es-CL" sz="9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consumen.</a:t>
            </a:r>
            <a:endParaRPr lang="es-CL" sz="950" noProof="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1783080"/>
          </a:xfrm>
          <a:prstGeom prst="rect">
            <a:avLst/>
          </a:prstGeom>
          <a:solidFill>
            <a:srgbClr val="0F1F3D"/>
          </a:solidFill>
          <a:ln w="12700">
            <a:solidFill>
              <a:srgbClr val="22C55E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45720" cy="1783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 14"/>
          <p:cNvSpPr/>
          <p:nvPr/>
        </p:nvSpPr>
        <p:spPr>
          <a:xfrm>
            <a:off x="6172200" y="11155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200" noProof="0" dirty="0">
                <a:solidFill>
                  <a:srgbClr val="000000"/>
                </a:solidFill>
              </a:rPr>
              <a:t>↔️</a:t>
            </a:r>
            <a:endParaRPr lang="es-CL" sz="2200" noProof="0" dirty="0"/>
          </a:p>
        </p:txBody>
      </p:sp>
      <p:sp>
        <p:nvSpPr>
          <p:cNvPr id="17" name="Text 15"/>
          <p:cNvSpPr/>
          <p:nvPr/>
        </p:nvSpPr>
        <p:spPr>
          <a:xfrm>
            <a:off x="6720840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1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de Dependencias</a:t>
            </a:r>
            <a:endParaRPr lang="es-CL" sz="1100" noProof="0" dirty="0"/>
          </a:p>
        </p:txBody>
      </p:sp>
      <p:sp>
        <p:nvSpPr>
          <p:cNvPr id="18" name="Text 16"/>
          <p:cNvSpPr/>
          <p:nvPr/>
        </p:nvSpPr>
        <p:spPr>
          <a:xfrm>
            <a:off x="6172200" y="162763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 relaciones entre módulos: </a:t>
            </a:r>
            <a:r>
              <a:rPr lang="es-CL" sz="9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</a:t>
            </a: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uses, </a:t>
            </a:r>
            <a:r>
              <a:rPr lang="es-CL" sz="9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CL" sz="9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</a:t>
            </a: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Detecta dependencias circulares y puntos de falla.</a:t>
            </a:r>
            <a:endParaRPr lang="es-CL" sz="950" noProof="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2651760" cy="1783080"/>
          </a:xfrm>
          <a:prstGeom prst="rect">
            <a:avLst/>
          </a:prstGeom>
          <a:solidFill>
            <a:srgbClr val="0F1F3D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45720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Text 19"/>
          <p:cNvSpPr/>
          <p:nvPr/>
        </p:nvSpPr>
        <p:spPr>
          <a:xfrm>
            <a:off x="502920" y="30815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200" noProof="0" dirty="0">
                <a:solidFill>
                  <a:srgbClr val="000000"/>
                </a:solidFill>
              </a:rPr>
              <a:t>👥</a:t>
            </a:r>
            <a:endParaRPr lang="es-CL" sz="2200" noProof="0" dirty="0"/>
          </a:p>
        </p:txBody>
      </p:sp>
      <p:sp>
        <p:nvSpPr>
          <p:cNvPr id="22" name="Text 20"/>
          <p:cNvSpPr/>
          <p:nvPr/>
        </p:nvSpPr>
        <p:spPr>
          <a:xfrm>
            <a:off x="105156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1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Conocimiento</a:t>
            </a:r>
            <a:endParaRPr lang="es-CL" sz="1100" noProof="0" dirty="0"/>
          </a:p>
        </p:txBody>
      </p:sp>
      <p:sp>
        <p:nvSpPr>
          <p:cNvPr id="23" name="Text 21"/>
          <p:cNvSpPr/>
          <p:nvPr/>
        </p:nvSpPr>
        <p:spPr>
          <a:xfrm>
            <a:off x="502920" y="359359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qué miembro del equipo conoce qué módulo. Identifica bus factor y riesgo de pérdida de conocimiento.</a:t>
            </a:r>
            <a:endParaRPr lang="es-CL" sz="950" noProof="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651760" cy="1783080"/>
          </a:xfrm>
          <a:prstGeom prst="rect">
            <a:avLst/>
          </a:prstGeom>
          <a:solidFill>
            <a:srgbClr val="0F1F3D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45720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Text 24"/>
          <p:cNvSpPr/>
          <p:nvPr/>
        </p:nvSpPr>
        <p:spPr>
          <a:xfrm>
            <a:off x="3337560" y="30815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200" noProof="0" dirty="0">
                <a:solidFill>
                  <a:srgbClr val="000000"/>
                </a:solidFill>
              </a:rPr>
              <a:t>❤️</a:t>
            </a:r>
            <a:endParaRPr lang="es-CL" sz="2200" noProof="0" dirty="0"/>
          </a:p>
        </p:txBody>
      </p:sp>
      <p:sp>
        <p:nvSpPr>
          <p:cNvPr id="27" name="Text 25"/>
          <p:cNvSpPr/>
          <p:nvPr/>
        </p:nvSpPr>
        <p:spPr>
          <a:xfrm>
            <a:off x="388620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100" b="1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r>
              <a:rPr lang="es-CL" sz="11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</a:t>
            </a:r>
            <a:endParaRPr lang="es-CL" sz="1100" noProof="0" dirty="0"/>
          </a:p>
        </p:txBody>
      </p:sp>
      <p:sp>
        <p:nvSpPr>
          <p:cNvPr id="28" name="Text 26"/>
          <p:cNvSpPr/>
          <p:nvPr/>
        </p:nvSpPr>
        <p:spPr>
          <a:xfrm>
            <a:off x="3337560" y="359359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0-100 por módulo basado en documentación, riesgo y bus factor. Alertas automáticas para módulos críticos.</a:t>
            </a:r>
            <a:endParaRPr lang="es-CL" sz="950" noProof="0" dirty="0"/>
          </a:p>
        </p:txBody>
      </p:sp>
      <p:sp>
        <p:nvSpPr>
          <p:cNvPr id="29" name="Shape 27"/>
          <p:cNvSpPr/>
          <p:nvPr/>
        </p:nvSpPr>
        <p:spPr>
          <a:xfrm>
            <a:off x="6035040" y="2971800"/>
            <a:ext cx="2651760" cy="1783080"/>
          </a:xfrm>
          <a:prstGeom prst="rect">
            <a:avLst/>
          </a:prstGeom>
          <a:solidFill>
            <a:srgbClr val="0F1F3D"/>
          </a:solidFill>
          <a:ln w="12700">
            <a:solidFill>
              <a:srgbClr val="8B5CF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30" name="Shape 28"/>
          <p:cNvSpPr/>
          <p:nvPr/>
        </p:nvSpPr>
        <p:spPr>
          <a:xfrm>
            <a:off x="6035040" y="2971800"/>
            <a:ext cx="45720" cy="1783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1" name="Text 29"/>
          <p:cNvSpPr/>
          <p:nvPr/>
        </p:nvSpPr>
        <p:spPr>
          <a:xfrm>
            <a:off x="6172200" y="30815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200" noProof="0" dirty="0">
                <a:solidFill>
                  <a:srgbClr val="000000"/>
                </a:solidFill>
              </a:rPr>
              <a:t>📤</a:t>
            </a:r>
            <a:endParaRPr lang="es-CL" sz="2200" noProof="0" dirty="0"/>
          </a:p>
        </p:txBody>
      </p:sp>
      <p:sp>
        <p:nvSpPr>
          <p:cNvPr id="32" name="Text 30"/>
          <p:cNvSpPr/>
          <p:nvPr/>
        </p:nvSpPr>
        <p:spPr>
          <a:xfrm>
            <a:off x="672084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1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a </a:t>
            </a:r>
            <a:r>
              <a:rPr lang="es-CL" sz="1100" b="1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s-CL" sz="1100" noProof="0" dirty="0"/>
          </a:p>
        </p:txBody>
      </p:sp>
      <p:sp>
        <p:nvSpPr>
          <p:cNvPr id="33" name="Text 31"/>
          <p:cNvSpPr/>
          <p:nvPr/>
        </p:nvSpPr>
        <p:spPr>
          <a:xfrm>
            <a:off x="6172200" y="359359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cualquier módulo o </a:t>
            </a:r>
            <a:r>
              <a:rPr lang="es-CL" sz="9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como </a:t>
            </a:r>
            <a:r>
              <a:rPr lang="es-CL" sz="9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listo para </a:t>
            </a:r>
            <a:r>
              <a:rPr lang="es-CL" sz="9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CL" sz="9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GitHub Wiki o tu herramienta favorita.</a:t>
            </a:r>
            <a:endParaRPr lang="es-CL" sz="95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28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documentados por paso</a:t>
            </a:r>
            <a:endParaRPr lang="es-CL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CL" sz="1200" b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del flujo documenta:
</a:t>
            </a:r>
            <a:endParaRPr lang="es-CL" sz="1200" noProof="0" dirty="0"/>
          </a:p>
          <a:p>
            <a:pPr marL="0" indent="0" algn="l">
              <a:buNone/>
            </a:pPr>
            <a:r>
              <a:rPr lang="es-CL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Actor que realiza la acción
</a:t>
            </a:r>
            <a:endParaRPr lang="es-CL" sz="1200" noProof="0" dirty="0"/>
          </a:p>
          <a:p>
            <a:pPr marL="0" indent="0" algn="l">
              <a:buNone/>
            </a:pPr>
            <a:r>
              <a:rPr lang="es-CL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Pantalla donde ocurre
</a:t>
            </a:r>
            <a:endParaRPr lang="es-CL" sz="1200" noProof="0" dirty="0"/>
          </a:p>
          <a:p>
            <a:pPr marL="0" indent="0" algn="l">
              <a:buNone/>
            </a:pPr>
            <a:r>
              <a:rPr lang="es-CL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Componentes UI involucrados
</a:t>
            </a:r>
            <a:endParaRPr lang="es-CL" sz="1200" noProof="0" dirty="0"/>
          </a:p>
          <a:p>
            <a:pPr marL="0" indent="0" algn="l">
              <a:buNone/>
            </a:pPr>
            <a:r>
              <a:rPr lang="es-CL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Servicios </a:t>
            </a:r>
            <a:r>
              <a:rPr lang="es-CL" sz="12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r>
              <a:rPr lang="es-CL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(Angular </a:t>
            </a:r>
            <a:r>
              <a:rPr lang="es-CL" sz="12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r>
              <a:rPr lang="es-CL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CL" sz="12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r>
              <a:rPr lang="es-CL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…)
</a:t>
            </a:r>
            <a:endParaRPr lang="es-CL" sz="1200" noProof="0" dirty="0"/>
          </a:p>
          <a:p>
            <a:pPr marL="0" indent="0" algn="l">
              <a:buNone/>
            </a:pPr>
            <a:r>
              <a:rPr lang="es-CL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s-CL" sz="12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r>
              <a:rPr lang="es-CL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consumidos: método, </a:t>
            </a:r>
            <a:r>
              <a:rPr lang="es-CL" sz="12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r>
              <a:rPr lang="es-CL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CL" sz="12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r>
              <a:rPr lang="es-CL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response</a:t>
            </a:r>
            <a:endParaRPr lang="es-CL" sz="12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100" i="1" noProof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editable </a:t>
            </a:r>
            <a:r>
              <a:rPr lang="es-CL" sz="1100" i="1" noProof="0" dirty="0" err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</a:t>
            </a:r>
            <a:r>
              <a:rPr lang="es-CL" sz="1100" i="1" noProof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sin salir del contexto.</a:t>
            </a:r>
            <a:endParaRPr lang="es-CL" sz="11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puede documentar flujos </a:t>
            </a:r>
            <a:r>
              <a:rPr lang="es-CL" sz="1000" noProof="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r>
              <a:rPr lang="es-CL" sz="10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completos en minutos, no días.</a:t>
            </a:r>
            <a:endParaRPr lang="es-CL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3703320" y="914400"/>
            <a:ext cx="32004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 6"/>
          <p:cNvSpPr/>
          <p:nvPr/>
        </p:nvSpPr>
        <p:spPr>
          <a:xfrm>
            <a:off x="3703320" y="91440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800" b="1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s-CL" sz="800" noProof="0" dirty="0"/>
          </a:p>
        </p:txBody>
      </p:sp>
      <p:sp>
        <p:nvSpPr>
          <p:cNvPr id="9" name="Shape 7"/>
          <p:cNvSpPr/>
          <p:nvPr/>
        </p:nvSpPr>
        <p:spPr>
          <a:xfrm>
            <a:off x="4023360" y="914400"/>
            <a:ext cx="68580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/>
          <p:nvPr/>
        </p:nvSpPr>
        <p:spPr>
          <a:xfrm>
            <a:off x="4023360" y="9144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800" b="1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s-CL" sz="800" noProof="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77724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 10"/>
          <p:cNvSpPr/>
          <p:nvPr/>
        </p:nvSpPr>
        <p:spPr>
          <a:xfrm>
            <a:off x="4709160" y="914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800" b="1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</a:t>
            </a:r>
            <a:endParaRPr lang="es-CL" sz="800" noProof="0" dirty="0"/>
          </a:p>
        </p:txBody>
      </p:sp>
      <p:sp>
        <p:nvSpPr>
          <p:cNvPr id="13" name="Shape 11"/>
          <p:cNvSpPr/>
          <p:nvPr/>
        </p:nvSpPr>
        <p:spPr>
          <a:xfrm>
            <a:off x="5486400" y="914400"/>
            <a:ext cx="118872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 12"/>
          <p:cNvSpPr/>
          <p:nvPr/>
        </p:nvSpPr>
        <p:spPr>
          <a:xfrm>
            <a:off x="5486400" y="914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800" b="1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s-CL" sz="800" noProof="0" dirty="0"/>
          </a:p>
        </p:txBody>
      </p:sp>
      <p:sp>
        <p:nvSpPr>
          <p:cNvPr id="15" name="Shape 13"/>
          <p:cNvSpPr/>
          <p:nvPr/>
        </p:nvSpPr>
        <p:spPr>
          <a:xfrm>
            <a:off x="6675120" y="914400"/>
            <a:ext cx="86868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 14"/>
          <p:cNvSpPr/>
          <p:nvPr/>
        </p:nvSpPr>
        <p:spPr>
          <a:xfrm>
            <a:off x="6675120" y="9144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800" b="1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s-CL" sz="800" noProof="0" dirty="0"/>
          </a:p>
        </p:txBody>
      </p:sp>
      <p:sp>
        <p:nvSpPr>
          <p:cNvPr id="17" name="Shape 15"/>
          <p:cNvSpPr/>
          <p:nvPr/>
        </p:nvSpPr>
        <p:spPr>
          <a:xfrm>
            <a:off x="7543800" y="914400"/>
            <a:ext cx="137160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Text 16"/>
          <p:cNvSpPr/>
          <p:nvPr/>
        </p:nvSpPr>
        <p:spPr>
          <a:xfrm>
            <a:off x="7543800" y="914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800" b="1" noProof="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s-CL" sz="800" noProof="0" dirty="0"/>
          </a:p>
        </p:txBody>
      </p:sp>
      <p:sp>
        <p:nvSpPr>
          <p:cNvPr id="19" name="Shape 17"/>
          <p:cNvSpPr/>
          <p:nvPr/>
        </p:nvSpPr>
        <p:spPr>
          <a:xfrm>
            <a:off x="3703320" y="1207008"/>
            <a:ext cx="32004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Text 18"/>
          <p:cNvSpPr/>
          <p:nvPr/>
        </p:nvSpPr>
        <p:spPr>
          <a:xfrm>
            <a:off x="3739896" y="1252728"/>
            <a:ext cx="246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CL" sz="1000" noProof="0" dirty="0"/>
          </a:p>
        </p:txBody>
      </p:sp>
      <p:sp>
        <p:nvSpPr>
          <p:cNvPr id="21" name="Shape 19"/>
          <p:cNvSpPr/>
          <p:nvPr/>
        </p:nvSpPr>
        <p:spPr>
          <a:xfrm>
            <a:off x="4023360" y="1207008"/>
            <a:ext cx="6858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Text 20"/>
          <p:cNvSpPr/>
          <p:nvPr/>
        </p:nvSpPr>
        <p:spPr>
          <a:xfrm>
            <a:off x="4059936" y="1252728"/>
            <a:ext cx="612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s-CL" sz="800" noProof="0" dirty="0"/>
          </a:p>
        </p:txBody>
      </p:sp>
      <p:sp>
        <p:nvSpPr>
          <p:cNvPr id="23" name="Shape 21"/>
          <p:cNvSpPr/>
          <p:nvPr/>
        </p:nvSpPr>
        <p:spPr>
          <a:xfrm>
            <a:off x="4709160" y="1207008"/>
            <a:ext cx="77724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Text 22"/>
          <p:cNvSpPr/>
          <p:nvPr/>
        </p:nvSpPr>
        <p:spPr>
          <a:xfrm>
            <a:off x="4745736" y="1252728"/>
            <a:ext cx="704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 err="1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s-CL" sz="800" noProof="0" dirty="0"/>
          </a:p>
        </p:txBody>
      </p:sp>
      <p:sp>
        <p:nvSpPr>
          <p:cNvPr id="25" name="Shape 23"/>
          <p:cNvSpPr/>
          <p:nvPr/>
        </p:nvSpPr>
        <p:spPr>
          <a:xfrm>
            <a:off x="5486400" y="1207008"/>
            <a:ext cx="118872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Text 24"/>
          <p:cNvSpPr/>
          <p:nvPr/>
        </p:nvSpPr>
        <p:spPr>
          <a:xfrm>
            <a:off x="5522976" y="1252728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 err="1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FilterBar</a:t>
            </a:r>
            <a:endParaRPr lang="es-CL" sz="800" noProof="0" dirty="0"/>
          </a:p>
          <a:p>
            <a:pPr marL="0" indent="0" algn="l">
              <a:buNone/>
            </a:pPr>
            <a:r>
              <a:rPr lang="es-CL" sz="800" noProof="0" dirty="0" err="1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DatePicker</a:t>
            </a:r>
            <a:endParaRPr lang="es-CL" sz="800" noProof="0" dirty="0"/>
          </a:p>
        </p:txBody>
      </p:sp>
      <p:sp>
        <p:nvSpPr>
          <p:cNvPr id="27" name="Shape 25"/>
          <p:cNvSpPr/>
          <p:nvPr/>
        </p:nvSpPr>
        <p:spPr>
          <a:xfrm>
            <a:off x="6675120" y="1207008"/>
            <a:ext cx="8686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8" name="Text 26"/>
          <p:cNvSpPr/>
          <p:nvPr/>
        </p:nvSpPr>
        <p:spPr>
          <a:xfrm>
            <a:off x="6711696" y="1252728"/>
            <a:ext cx="795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 err="1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ReportService</a:t>
            </a:r>
            <a:endParaRPr lang="es-CL" sz="800" noProof="0" dirty="0"/>
          </a:p>
        </p:txBody>
      </p:sp>
      <p:sp>
        <p:nvSpPr>
          <p:cNvPr id="29" name="Shape 27"/>
          <p:cNvSpPr/>
          <p:nvPr/>
        </p:nvSpPr>
        <p:spPr>
          <a:xfrm>
            <a:off x="7543800" y="1207008"/>
            <a:ext cx="13716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0" name="Text 28"/>
          <p:cNvSpPr/>
          <p:nvPr/>
        </p:nvSpPr>
        <p:spPr>
          <a:xfrm>
            <a:off x="7580376" y="1252728"/>
            <a:ext cx="129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</a:t>
            </a:r>
            <a:r>
              <a:rPr lang="es-CL" sz="800" noProof="0" dirty="0" err="1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</a:t>
            </a:r>
            <a:endParaRPr lang="es-CL" sz="800" noProof="0" dirty="0"/>
          </a:p>
        </p:txBody>
      </p:sp>
      <p:sp>
        <p:nvSpPr>
          <p:cNvPr id="31" name="Shape 29"/>
          <p:cNvSpPr/>
          <p:nvPr/>
        </p:nvSpPr>
        <p:spPr>
          <a:xfrm>
            <a:off x="3703320" y="2075688"/>
            <a:ext cx="320040" cy="804672"/>
          </a:xfrm>
          <a:prstGeom prst="rect">
            <a:avLst/>
          </a:prstGeom>
          <a:solidFill>
            <a:srgbClr val="0914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2" name="Text 30"/>
          <p:cNvSpPr/>
          <p:nvPr/>
        </p:nvSpPr>
        <p:spPr>
          <a:xfrm>
            <a:off x="3739896" y="2121408"/>
            <a:ext cx="246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L" sz="1000" noProof="0" dirty="0"/>
          </a:p>
        </p:txBody>
      </p:sp>
      <p:sp>
        <p:nvSpPr>
          <p:cNvPr id="33" name="Shape 31"/>
          <p:cNvSpPr/>
          <p:nvPr/>
        </p:nvSpPr>
        <p:spPr>
          <a:xfrm>
            <a:off x="4023360" y="2075688"/>
            <a:ext cx="685800" cy="804672"/>
          </a:xfrm>
          <a:prstGeom prst="rect">
            <a:avLst/>
          </a:prstGeom>
          <a:solidFill>
            <a:srgbClr val="0914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4" name="Text 32"/>
          <p:cNvSpPr/>
          <p:nvPr/>
        </p:nvSpPr>
        <p:spPr>
          <a:xfrm>
            <a:off x="4059936" y="2121408"/>
            <a:ext cx="612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s-CL" sz="800" noProof="0" dirty="0"/>
          </a:p>
        </p:txBody>
      </p:sp>
      <p:sp>
        <p:nvSpPr>
          <p:cNvPr id="35" name="Shape 33"/>
          <p:cNvSpPr/>
          <p:nvPr/>
        </p:nvSpPr>
        <p:spPr>
          <a:xfrm>
            <a:off x="4709160" y="2075688"/>
            <a:ext cx="777240" cy="804672"/>
          </a:xfrm>
          <a:prstGeom prst="rect">
            <a:avLst/>
          </a:prstGeom>
          <a:solidFill>
            <a:srgbClr val="0914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6" name="Text 34"/>
          <p:cNvSpPr/>
          <p:nvPr/>
        </p:nvSpPr>
        <p:spPr>
          <a:xfrm>
            <a:off x="4745736" y="2121408"/>
            <a:ext cx="704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 err="1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s-CL" sz="800" noProof="0" dirty="0"/>
          </a:p>
        </p:txBody>
      </p:sp>
      <p:sp>
        <p:nvSpPr>
          <p:cNvPr id="37" name="Shape 35"/>
          <p:cNvSpPr/>
          <p:nvPr/>
        </p:nvSpPr>
        <p:spPr>
          <a:xfrm>
            <a:off x="5486400" y="2075688"/>
            <a:ext cx="1188720" cy="804672"/>
          </a:xfrm>
          <a:prstGeom prst="rect">
            <a:avLst/>
          </a:prstGeom>
          <a:solidFill>
            <a:srgbClr val="0914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8" name="Text 36"/>
          <p:cNvSpPr/>
          <p:nvPr/>
        </p:nvSpPr>
        <p:spPr>
          <a:xfrm>
            <a:off x="5522976" y="2121408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 err="1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ReportTable</a:t>
            </a:r>
            <a:endParaRPr lang="es-CL" sz="800" noProof="0" dirty="0"/>
          </a:p>
          <a:p>
            <a:pPr marL="0" indent="0" algn="l">
              <a:buNone/>
            </a:pPr>
            <a:r>
              <a:rPr lang="es-CL" sz="800" noProof="0" dirty="0" err="1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s-CL" sz="800" noProof="0" dirty="0"/>
          </a:p>
        </p:txBody>
      </p:sp>
      <p:sp>
        <p:nvSpPr>
          <p:cNvPr id="39" name="Shape 37"/>
          <p:cNvSpPr/>
          <p:nvPr/>
        </p:nvSpPr>
        <p:spPr>
          <a:xfrm>
            <a:off x="6675120" y="2075688"/>
            <a:ext cx="868680" cy="804672"/>
          </a:xfrm>
          <a:prstGeom prst="rect">
            <a:avLst/>
          </a:prstGeom>
          <a:solidFill>
            <a:srgbClr val="0914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0" name="Text 38"/>
          <p:cNvSpPr/>
          <p:nvPr/>
        </p:nvSpPr>
        <p:spPr>
          <a:xfrm>
            <a:off x="6711696" y="2121408"/>
            <a:ext cx="795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 err="1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</a:t>
            </a:r>
            <a:endParaRPr lang="es-CL" sz="800" noProof="0" dirty="0"/>
          </a:p>
        </p:txBody>
      </p:sp>
      <p:sp>
        <p:nvSpPr>
          <p:cNvPr id="41" name="Shape 39"/>
          <p:cNvSpPr/>
          <p:nvPr/>
        </p:nvSpPr>
        <p:spPr>
          <a:xfrm>
            <a:off x="7543800" y="2075688"/>
            <a:ext cx="1371600" cy="804672"/>
          </a:xfrm>
          <a:prstGeom prst="rect">
            <a:avLst/>
          </a:prstGeom>
          <a:solidFill>
            <a:srgbClr val="0914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2" name="Text 40"/>
          <p:cNvSpPr/>
          <p:nvPr/>
        </p:nvSpPr>
        <p:spPr>
          <a:xfrm>
            <a:off x="7580376" y="2121408"/>
            <a:ext cx="129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/api/me</a:t>
            </a:r>
            <a:endParaRPr lang="es-CL" sz="800" noProof="0" dirty="0"/>
          </a:p>
        </p:txBody>
      </p:sp>
      <p:sp>
        <p:nvSpPr>
          <p:cNvPr id="43" name="Shape 41"/>
          <p:cNvSpPr/>
          <p:nvPr/>
        </p:nvSpPr>
        <p:spPr>
          <a:xfrm>
            <a:off x="3703320" y="2944368"/>
            <a:ext cx="32004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4" name="Text 42"/>
          <p:cNvSpPr/>
          <p:nvPr/>
        </p:nvSpPr>
        <p:spPr>
          <a:xfrm>
            <a:off x="3739896" y="2990088"/>
            <a:ext cx="246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L" sz="1000" noProof="0" dirty="0"/>
          </a:p>
        </p:txBody>
      </p:sp>
      <p:sp>
        <p:nvSpPr>
          <p:cNvPr id="45" name="Shape 43"/>
          <p:cNvSpPr/>
          <p:nvPr/>
        </p:nvSpPr>
        <p:spPr>
          <a:xfrm>
            <a:off x="4023360" y="2944368"/>
            <a:ext cx="6858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6" name="Text 44"/>
          <p:cNvSpPr/>
          <p:nvPr/>
        </p:nvSpPr>
        <p:spPr>
          <a:xfrm>
            <a:off x="4059936" y="2990088"/>
            <a:ext cx="612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s-CL" sz="800" noProof="0" dirty="0"/>
          </a:p>
        </p:txBody>
      </p:sp>
      <p:sp>
        <p:nvSpPr>
          <p:cNvPr id="47" name="Shape 45"/>
          <p:cNvSpPr/>
          <p:nvPr/>
        </p:nvSpPr>
        <p:spPr>
          <a:xfrm>
            <a:off x="4709160" y="2944368"/>
            <a:ext cx="77724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8" name="Text 46"/>
          <p:cNvSpPr/>
          <p:nvPr/>
        </p:nvSpPr>
        <p:spPr>
          <a:xfrm>
            <a:off x="4745736" y="2990088"/>
            <a:ext cx="704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 err="1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ExportModal</a:t>
            </a:r>
            <a:endParaRPr lang="es-CL" sz="800" noProof="0" dirty="0"/>
          </a:p>
        </p:txBody>
      </p:sp>
      <p:sp>
        <p:nvSpPr>
          <p:cNvPr id="49" name="Shape 47"/>
          <p:cNvSpPr/>
          <p:nvPr/>
        </p:nvSpPr>
        <p:spPr>
          <a:xfrm>
            <a:off x="5486400" y="2944368"/>
            <a:ext cx="118872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0" name="Text 48"/>
          <p:cNvSpPr/>
          <p:nvPr/>
        </p:nvSpPr>
        <p:spPr>
          <a:xfrm>
            <a:off x="5522976" y="2990088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 err="1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ExportModal</a:t>
            </a:r>
            <a:endParaRPr lang="es-CL" sz="800" noProof="0" dirty="0"/>
          </a:p>
          <a:p>
            <a:pPr marL="0" indent="0" algn="l">
              <a:buNone/>
            </a:pPr>
            <a:r>
              <a:rPr lang="es-CL" sz="800" noProof="0" dirty="0" err="1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FormatSelect</a:t>
            </a:r>
            <a:endParaRPr lang="es-CL" sz="800" noProof="0" dirty="0"/>
          </a:p>
        </p:txBody>
      </p:sp>
      <p:sp>
        <p:nvSpPr>
          <p:cNvPr id="51" name="Shape 49"/>
          <p:cNvSpPr/>
          <p:nvPr/>
        </p:nvSpPr>
        <p:spPr>
          <a:xfrm>
            <a:off x="6675120" y="2944368"/>
            <a:ext cx="8686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2" name="Text 50"/>
          <p:cNvSpPr/>
          <p:nvPr/>
        </p:nvSpPr>
        <p:spPr>
          <a:xfrm>
            <a:off x="6711696" y="2990088"/>
            <a:ext cx="795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 err="1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ExportService</a:t>
            </a:r>
            <a:endParaRPr lang="es-CL" sz="800" noProof="0" dirty="0"/>
          </a:p>
        </p:txBody>
      </p:sp>
      <p:sp>
        <p:nvSpPr>
          <p:cNvPr id="53" name="Shape 51"/>
          <p:cNvSpPr/>
          <p:nvPr/>
        </p:nvSpPr>
        <p:spPr>
          <a:xfrm>
            <a:off x="7543800" y="2944368"/>
            <a:ext cx="137160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4" name="Text 52"/>
          <p:cNvSpPr/>
          <p:nvPr/>
        </p:nvSpPr>
        <p:spPr>
          <a:xfrm>
            <a:off x="7580376" y="2990088"/>
            <a:ext cx="129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800" noProof="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</a:t>
            </a:r>
            <a:r>
              <a:rPr lang="es-CL" sz="800" noProof="0" dirty="0" err="1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endParaRPr lang="es-CL" sz="8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28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del estado real del sistema</a:t>
            </a:r>
            <a:endParaRPr lang="es-CL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600" b="1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r>
              <a:rPr lang="es-CL" sz="16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 (0-100)</a:t>
            </a:r>
            <a:endParaRPr lang="es-CL" sz="16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572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s-CL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3200400" y="1508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200" b="1" noProof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</a:t>
            </a:r>
            <a:r>
              <a:rPr lang="es-CL" sz="1200" b="1" noProof="0" dirty="0" err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s-CL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402336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457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594360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Riesgo</a:t>
            </a:r>
            <a:endParaRPr lang="es-CL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3200400" y="2148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2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</a:t>
            </a:r>
            <a:r>
              <a:rPr lang="es-CL" sz="1200" b="1" noProof="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s-CL" sz="1200" noProof="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2336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572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 13"/>
          <p:cNvSpPr/>
          <p:nvPr/>
        </p:nvSpPr>
        <p:spPr>
          <a:xfrm>
            <a:off x="594360" y="2788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Factor</a:t>
            </a:r>
            <a:endParaRPr lang="es-CL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3200400" y="2788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200" b="1" noProof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</a:t>
            </a:r>
            <a:r>
              <a:rPr lang="es-CL" sz="1200" b="1" noProof="0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s-CL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3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</a:t>
            </a:r>
            <a:endParaRPr lang="es-CL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Documentación &lt; 20 </a:t>
            </a:r>
            <a:r>
              <a:rPr lang="es-CL" sz="10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s-CL" sz="1000" noProof="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</a:t>
            </a:r>
            <a:r>
              <a:rPr lang="es-CL" sz="10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r>
              <a:rPr lang="es-CL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alto riesgo sin </a:t>
            </a:r>
            <a:r>
              <a:rPr lang="es-CL" sz="10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s-CL" sz="1000" noProof="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Bus factor crítico (solo 1 persona conoce el módulo)</a:t>
            </a:r>
            <a:endParaRPr lang="es-CL" sz="1000" noProof="0" dirty="0"/>
          </a:p>
        </p:txBody>
      </p:sp>
      <p:sp>
        <p:nvSpPr>
          <p:cNvPr id="21" name="Text 19"/>
          <p:cNvSpPr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300" b="1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s-CL" sz="1300" b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módulos</a:t>
            </a:r>
            <a:endParaRPr lang="es-CL" sz="1300" noProof="0" dirty="0"/>
          </a:p>
        </p:txBody>
      </p:sp>
      <p:sp>
        <p:nvSpPr>
          <p:cNvPr id="22" name="Shape 20"/>
          <p:cNvSpPr/>
          <p:nvPr/>
        </p:nvSpPr>
        <p:spPr>
          <a:xfrm>
            <a:off x="4754880" y="1463040"/>
            <a:ext cx="402336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22C55E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3" name="Shape 21"/>
          <p:cNvSpPr/>
          <p:nvPr/>
        </p:nvSpPr>
        <p:spPr>
          <a:xfrm>
            <a:off x="4754880" y="1463040"/>
            <a:ext cx="45720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Shape 22"/>
          <p:cNvSpPr/>
          <p:nvPr/>
        </p:nvSpPr>
        <p:spPr>
          <a:xfrm>
            <a:off x="4892040" y="1600200"/>
            <a:ext cx="685800" cy="685800"/>
          </a:xfrm>
          <a:prstGeom prst="ellipse">
            <a:avLst/>
          </a:prstGeom>
          <a:solidFill>
            <a:srgbClr val="22C55E">
              <a:alpha val="25000"/>
            </a:srgbClr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Text 23"/>
          <p:cNvSpPr/>
          <p:nvPr/>
        </p:nvSpPr>
        <p:spPr>
          <a:xfrm>
            <a:off x="4892040" y="1627632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800" b="1" noProof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s-CL" sz="1800" noProof="0" dirty="0"/>
          </a:p>
        </p:txBody>
      </p:sp>
      <p:sp>
        <p:nvSpPr>
          <p:cNvPr id="26" name="Text 24"/>
          <p:cNvSpPr/>
          <p:nvPr/>
        </p:nvSpPr>
        <p:spPr>
          <a:xfrm>
            <a:off x="5669280" y="1600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500" b="1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s-CL" sz="1500" noProof="0" dirty="0"/>
          </a:p>
        </p:txBody>
      </p:sp>
      <p:sp>
        <p:nvSpPr>
          <p:cNvPr id="27" name="Text 25"/>
          <p:cNvSpPr/>
          <p:nvPr/>
        </p:nvSpPr>
        <p:spPr>
          <a:xfrm>
            <a:off x="5669280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Bajo</a:t>
            </a:r>
            <a:endParaRPr lang="es-CL" sz="1000" noProof="0" dirty="0"/>
          </a:p>
        </p:txBody>
      </p:sp>
      <p:sp>
        <p:nvSpPr>
          <p:cNvPr id="28" name="Shape 26"/>
          <p:cNvSpPr/>
          <p:nvPr/>
        </p:nvSpPr>
        <p:spPr>
          <a:xfrm>
            <a:off x="4754880" y="2606040"/>
            <a:ext cx="402336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9" name="Shape 27"/>
          <p:cNvSpPr/>
          <p:nvPr/>
        </p:nvSpPr>
        <p:spPr>
          <a:xfrm>
            <a:off x="4754880" y="2606040"/>
            <a:ext cx="4572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0" name="Shape 28"/>
          <p:cNvSpPr/>
          <p:nvPr/>
        </p:nvSpPr>
        <p:spPr>
          <a:xfrm>
            <a:off x="4892040" y="2743200"/>
            <a:ext cx="685800" cy="685800"/>
          </a:xfrm>
          <a:prstGeom prst="ellipse">
            <a:avLst/>
          </a:prstGeom>
          <a:solidFill>
            <a:srgbClr val="F59E0B">
              <a:alpha val="25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1" name="Text 29"/>
          <p:cNvSpPr/>
          <p:nvPr/>
        </p:nvSpPr>
        <p:spPr>
          <a:xfrm>
            <a:off x="4892040" y="2770632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8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s-CL" sz="1800" noProof="0" dirty="0"/>
          </a:p>
        </p:txBody>
      </p:sp>
      <p:sp>
        <p:nvSpPr>
          <p:cNvPr id="32" name="Text 30"/>
          <p:cNvSpPr/>
          <p:nvPr/>
        </p:nvSpPr>
        <p:spPr>
          <a:xfrm>
            <a:off x="5669280" y="2743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500" b="1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s-CL" sz="1500" noProof="0" dirty="0"/>
          </a:p>
        </p:txBody>
      </p:sp>
      <p:sp>
        <p:nvSpPr>
          <p:cNvPr id="33" name="Text 31"/>
          <p:cNvSpPr/>
          <p:nvPr/>
        </p:nvSpPr>
        <p:spPr>
          <a:xfrm>
            <a:off x="5669280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Alto</a:t>
            </a:r>
            <a:endParaRPr lang="es-CL" sz="1000" noProof="0" dirty="0"/>
          </a:p>
        </p:txBody>
      </p:sp>
      <p:sp>
        <p:nvSpPr>
          <p:cNvPr id="34" name="Shape 32"/>
          <p:cNvSpPr/>
          <p:nvPr/>
        </p:nvSpPr>
        <p:spPr>
          <a:xfrm>
            <a:off x="4754880" y="3749040"/>
            <a:ext cx="402336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35" name="Shape 33"/>
          <p:cNvSpPr/>
          <p:nvPr/>
        </p:nvSpPr>
        <p:spPr>
          <a:xfrm>
            <a:off x="4754880" y="3749040"/>
            <a:ext cx="4572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6" name="Shape 34"/>
          <p:cNvSpPr/>
          <p:nvPr/>
        </p:nvSpPr>
        <p:spPr>
          <a:xfrm>
            <a:off x="4892040" y="3886200"/>
            <a:ext cx="685800" cy="685800"/>
          </a:xfrm>
          <a:prstGeom prst="ellipse">
            <a:avLst/>
          </a:prstGeom>
          <a:solidFill>
            <a:srgbClr val="EF4444">
              <a:alpha val="25000"/>
            </a:srgbClr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7" name="Text 35"/>
          <p:cNvSpPr/>
          <p:nvPr/>
        </p:nvSpPr>
        <p:spPr>
          <a:xfrm>
            <a:off x="4892040" y="3913632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800" b="1" noProof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s-CL" sz="1800" noProof="0" dirty="0"/>
          </a:p>
        </p:txBody>
      </p:sp>
      <p:sp>
        <p:nvSpPr>
          <p:cNvPr id="38" name="Text 36"/>
          <p:cNvSpPr/>
          <p:nvPr/>
        </p:nvSpPr>
        <p:spPr>
          <a:xfrm>
            <a:off x="5669280" y="3886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500" b="1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s-CL" sz="1500" noProof="0" dirty="0"/>
          </a:p>
        </p:txBody>
      </p:sp>
      <p:sp>
        <p:nvSpPr>
          <p:cNvPr id="39" name="Text 37"/>
          <p:cNvSpPr/>
          <p:nvPr/>
        </p:nvSpPr>
        <p:spPr>
          <a:xfrm>
            <a:off x="5669280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Crítico</a:t>
            </a:r>
            <a:endParaRPr lang="es-CL" sz="10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2800" b="1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r>
              <a:rPr lang="es-CL" sz="28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técnico</a:t>
            </a:r>
            <a:endParaRPr lang="es-CL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1143000"/>
          </a:xfrm>
          <a:prstGeom prst="rect">
            <a:avLst/>
          </a:prstGeom>
          <a:solidFill>
            <a:srgbClr val="0F1F3D"/>
          </a:solidFill>
          <a:ln w="12700">
            <a:solidFill>
              <a:srgbClr val="6366F1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5720" cy="1143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750" b="1" kern="0" spc="2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s-CL" sz="750" noProof="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4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</a:t>
            </a:r>
            <a:r>
              <a:rPr lang="es-CL" sz="1400" b="1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r>
              <a:rPr lang="es-CL" sz="14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19</a:t>
            </a:r>
            <a:endParaRPr lang="es-CL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</a:t>
            </a:r>
            <a:r>
              <a:rPr lang="es-CL" sz="9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Server </a:t>
            </a:r>
            <a:r>
              <a:rPr lang="es-CL" sz="9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Server </a:t>
            </a:r>
            <a:r>
              <a:rPr lang="es-CL" sz="9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s-CL" sz="950" noProof="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160520" cy="1143000"/>
          </a:xfrm>
          <a:prstGeom prst="rect">
            <a:avLst/>
          </a:prstGeom>
          <a:solidFill>
            <a:srgbClr val="0F1F3D"/>
          </a:solidFill>
          <a:ln w="12700">
            <a:solidFill>
              <a:srgbClr val="6366F1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5720" cy="1143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493776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750" b="1" kern="0" spc="2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</a:t>
            </a:r>
            <a:endParaRPr lang="es-CL" sz="750" noProof="0" dirty="0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400" b="1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r>
              <a:rPr lang="es-CL" sz="14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</a:t>
            </a:r>
            <a:endParaRPr lang="es-CL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Tipado estricto en toda la app</a:t>
            </a:r>
            <a:endParaRPr lang="es-CL" sz="950" noProof="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4160520" cy="1143000"/>
          </a:xfrm>
          <a:prstGeom prst="rect">
            <a:avLst/>
          </a:prstGeom>
          <a:solidFill>
            <a:srgbClr val="0F1F3D"/>
          </a:solidFill>
          <a:ln w="12700">
            <a:solidFill>
              <a:srgbClr val="6366F1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45720" cy="1143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 14"/>
          <p:cNvSpPr/>
          <p:nvPr/>
        </p:nvSpPr>
        <p:spPr>
          <a:xfrm>
            <a:off x="502920" y="2423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750" b="1" kern="0" spc="2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</a:t>
            </a:r>
            <a:endParaRPr lang="es-CL" sz="750" noProof="0" dirty="0"/>
          </a:p>
        </p:txBody>
      </p:sp>
      <p:sp>
        <p:nvSpPr>
          <p:cNvPr id="17" name="Text 15"/>
          <p:cNvSpPr/>
          <p:nvPr/>
        </p:nvSpPr>
        <p:spPr>
          <a:xfrm>
            <a:off x="50292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400" b="1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r>
              <a:rPr lang="es-CL" sz="14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CSS 4</a:t>
            </a:r>
            <a:endParaRPr lang="es-CL" sz="1400" noProof="0" dirty="0"/>
          </a:p>
        </p:txBody>
      </p:sp>
      <p:sp>
        <p:nvSpPr>
          <p:cNvPr id="18" name="Text 16"/>
          <p:cNvSpPr/>
          <p:nvPr/>
        </p:nvSpPr>
        <p:spPr>
          <a:xfrm>
            <a:off x="502920" y="3017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9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</a:t>
            </a: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Tema oscuro nativo</a:t>
            </a:r>
            <a:endParaRPr lang="es-CL" sz="950" noProof="0" dirty="0"/>
          </a:p>
        </p:txBody>
      </p:sp>
      <p:sp>
        <p:nvSpPr>
          <p:cNvPr id="19" name="Shape 17"/>
          <p:cNvSpPr/>
          <p:nvPr/>
        </p:nvSpPr>
        <p:spPr>
          <a:xfrm>
            <a:off x="4800600" y="2331720"/>
            <a:ext cx="4160520" cy="1143000"/>
          </a:xfrm>
          <a:prstGeom prst="rect">
            <a:avLst/>
          </a:prstGeom>
          <a:solidFill>
            <a:srgbClr val="0F1F3D"/>
          </a:solidFill>
          <a:ln w="12700">
            <a:solidFill>
              <a:srgbClr val="6366F1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Shape 18"/>
          <p:cNvSpPr/>
          <p:nvPr/>
        </p:nvSpPr>
        <p:spPr>
          <a:xfrm>
            <a:off x="4800600" y="2331720"/>
            <a:ext cx="45720" cy="1143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Text 19"/>
          <p:cNvSpPr/>
          <p:nvPr/>
        </p:nvSpPr>
        <p:spPr>
          <a:xfrm>
            <a:off x="4937760" y="2423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750" b="1" kern="0" spc="2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s-CL" sz="750" noProof="0" dirty="0"/>
          </a:p>
        </p:txBody>
      </p:sp>
      <p:sp>
        <p:nvSpPr>
          <p:cNvPr id="22" name="Text 20"/>
          <p:cNvSpPr/>
          <p:nvPr/>
        </p:nvSpPr>
        <p:spPr>
          <a:xfrm>
            <a:off x="493776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4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6 + SQLite</a:t>
            </a:r>
            <a:endParaRPr lang="es-CL" sz="1400" noProof="0" dirty="0"/>
          </a:p>
        </p:txBody>
      </p:sp>
      <p:sp>
        <p:nvSpPr>
          <p:cNvPr id="23" name="Text 21"/>
          <p:cNvSpPr/>
          <p:nvPr/>
        </p:nvSpPr>
        <p:spPr>
          <a:xfrm>
            <a:off x="4937760" y="3017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</a:t>
            </a:r>
            <a:r>
              <a:rPr lang="es-CL" sz="9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</a:t>
            </a: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Migraciones automáticas</a:t>
            </a:r>
            <a:endParaRPr lang="es-CL" sz="950" noProof="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4160520" cy="1143000"/>
          </a:xfrm>
          <a:prstGeom prst="rect">
            <a:avLst/>
          </a:prstGeom>
          <a:solidFill>
            <a:srgbClr val="0F1F3D"/>
          </a:solidFill>
          <a:ln w="12700">
            <a:solidFill>
              <a:srgbClr val="6366F1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45720" cy="1143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Text 24"/>
          <p:cNvSpPr/>
          <p:nvPr/>
        </p:nvSpPr>
        <p:spPr>
          <a:xfrm>
            <a:off x="502920" y="3749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750" b="1" kern="0" spc="2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</a:t>
            </a:r>
            <a:endParaRPr lang="es-CL" sz="750" noProof="0" dirty="0"/>
          </a:p>
        </p:txBody>
      </p:sp>
      <p:sp>
        <p:nvSpPr>
          <p:cNvPr id="27" name="Text 25"/>
          <p:cNvSpPr/>
          <p:nvPr/>
        </p:nvSpPr>
        <p:spPr>
          <a:xfrm>
            <a:off x="502920" y="3977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400" b="1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r>
              <a:rPr lang="es-CL" sz="14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Flow (@xyflow)</a:t>
            </a:r>
            <a:endParaRPr lang="es-CL" sz="1400" noProof="0" dirty="0"/>
          </a:p>
        </p:txBody>
      </p:sp>
      <p:sp>
        <p:nvSpPr>
          <p:cNvPr id="28" name="Text 26"/>
          <p:cNvSpPr/>
          <p:nvPr/>
        </p:nvSpPr>
        <p:spPr>
          <a:xfrm>
            <a:off x="502920" y="4343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de grafos interactivo · drag-and-</a:t>
            </a:r>
            <a:r>
              <a:rPr lang="es-CL" sz="9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s-CL" sz="950" noProof="0" dirty="0"/>
          </a:p>
        </p:txBody>
      </p:sp>
      <p:sp>
        <p:nvSpPr>
          <p:cNvPr id="29" name="Shape 27"/>
          <p:cNvSpPr/>
          <p:nvPr/>
        </p:nvSpPr>
        <p:spPr>
          <a:xfrm>
            <a:off x="4800600" y="3657600"/>
            <a:ext cx="4160520" cy="1143000"/>
          </a:xfrm>
          <a:prstGeom prst="rect">
            <a:avLst/>
          </a:prstGeom>
          <a:solidFill>
            <a:srgbClr val="0F1F3D"/>
          </a:solidFill>
          <a:ln w="12700">
            <a:solidFill>
              <a:srgbClr val="6366F1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30" name="Shape 28"/>
          <p:cNvSpPr/>
          <p:nvPr/>
        </p:nvSpPr>
        <p:spPr>
          <a:xfrm>
            <a:off x="4800600" y="3657600"/>
            <a:ext cx="45720" cy="1143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1" name="Text 29"/>
          <p:cNvSpPr/>
          <p:nvPr/>
        </p:nvSpPr>
        <p:spPr>
          <a:xfrm>
            <a:off x="4937760" y="3749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750" b="1" kern="0" spc="200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COMPILER</a:t>
            </a:r>
            <a:endParaRPr lang="es-CL" sz="750" noProof="0" dirty="0"/>
          </a:p>
        </p:txBody>
      </p:sp>
      <p:sp>
        <p:nvSpPr>
          <p:cNvPr id="32" name="Text 30"/>
          <p:cNvSpPr/>
          <p:nvPr/>
        </p:nvSpPr>
        <p:spPr>
          <a:xfrm>
            <a:off x="4937760" y="3977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4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Babel plugin activo</a:t>
            </a:r>
            <a:endParaRPr lang="es-CL" sz="1400" noProof="0" dirty="0"/>
          </a:p>
        </p:txBody>
      </p:sp>
      <p:sp>
        <p:nvSpPr>
          <p:cNvPr id="33" name="Text 31"/>
          <p:cNvSpPr/>
          <p:nvPr/>
        </p:nvSpPr>
        <p:spPr>
          <a:xfrm>
            <a:off x="4937760" y="4343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Optimizaciones automáticas de </a:t>
            </a:r>
            <a:r>
              <a:rPr lang="es-CL" sz="9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re-renders</a:t>
            </a:r>
            <a:endParaRPr lang="es-CL" sz="950" noProof="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100" i="1" noProof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que ya conocen. Cero curva de aprendizaje para contribuir.</a:t>
            </a:r>
            <a:endParaRPr lang="es-CL" sz="11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28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s-CL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850392"/>
            <a:ext cx="77724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640080" cy="640080"/>
          </a:xfrm>
          <a:prstGeom prst="ellipse">
            <a:avLst/>
          </a:prstGeom>
          <a:solidFill>
            <a:srgbClr val="6366F1">
              <a:alpha val="20000"/>
            </a:srgbClr>
          </a:solidFill>
          <a:ln w="254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s-CL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1280160" y="109728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5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s-CL" sz="1500" noProof="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CL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Atlas documentando un módulo real de RMES — en 30 minutos el equipo ve el valor completo.</a:t>
            </a:r>
            <a:endParaRPr lang="es-CL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640080" cy="640080"/>
          </a:xfrm>
          <a:prstGeom prst="ellipse">
            <a:avLst/>
          </a:prstGeom>
          <a:solidFill>
            <a:srgbClr val="3B82F6">
              <a:alpha val="20000"/>
            </a:srgbClr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s-CL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1280160" y="233172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5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con 1 módulo</a:t>
            </a:r>
            <a:endParaRPr lang="es-CL" sz="1500" noProof="0" dirty="0"/>
          </a:p>
        </p:txBody>
      </p:sp>
      <p:sp>
        <p:nvSpPr>
          <p:cNvPr id="12" name="Text 10"/>
          <p:cNvSpPr/>
          <p:nvPr/>
        </p:nvSpPr>
        <p:spPr>
          <a:xfrm>
            <a:off x="1280160" y="269748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CL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un módulo de alta complejidad o alto riesgo. Medir tiempo de </a:t>
            </a:r>
            <a:r>
              <a:rPr lang="es-CL" sz="11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r>
              <a:rPr lang="es-CL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antes/después.</a:t>
            </a:r>
            <a:endParaRPr lang="es-CL" sz="1100" noProof="0" dirty="0"/>
          </a:p>
        </p:txBody>
      </p:sp>
      <p:sp>
        <p:nvSpPr>
          <p:cNvPr id="13" name="Shape 11"/>
          <p:cNvSpPr/>
          <p:nvPr/>
        </p:nvSpPr>
        <p:spPr>
          <a:xfrm>
            <a:off x="502920" y="3566160"/>
            <a:ext cx="640080" cy="640080"/>
          </a:xfrm>
          <a:prstGeom prst="ellipse">
            <a:avLst/>
          </a:prstGeom>
          <a:solidFill>
            <a:srgbClr val="22C55E">
              <a:alpha val="20000"/>
            </a:srgbClr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 12"/>
          <p:cNvSpPr/>
          <p:nvPr/>
        </p:nvSpPr>
        <p:spPr>
          <a:xfrm>
            <a:off x="50292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s-CL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1280160" y="356616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500" b="1" noProof="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r>
              <a:rPr lang="es-CL" sz="1500" b="1" noProof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equipo</a:t>
            </a:r>
            <a:endParaRPr lang="es-CL" sz="1500" noProof="0" dirty="0"/>
          </a:p>
        </p:txBody>
      </p:sp>
      <p:sp>
        <p:nvSpPr>
          <p:cNvPr id="16" name="Text 14"/>
          <p:cNvSpPr/>
          <p:nvPr/>
        </p:nvSpPr>
        <p:spPr>
          <a:xfrm>
            <a:off x="1280160" y="393192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CL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a todos los módulos. Integrar en el proceso de PR: cada </a:t>
            </a:r>
            <a:r>
              <a:rPr lang="es-CL" sz="11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r>
              <a:rPr lang="es-CL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documentada antes de </a:t>
            </a:r>
            <a:r>
              <a:rPr lang="es-CL" sz="11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r>
              <a:rPr lang="es-CL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CL" sz="1100" noProof="0" dirty="0"/>
          </a:p>
        </p:txBody>
      </p:sp>
      <p:sp>
        <p:nvSpPr>
          <p:cNvPr id="17" name="Shape 15"/>
          <p:cNvSpPr/>
          <p:nvPr/>
        </p:nvSpPr>
        <p:spPr>
          <a:xfrm>
            <a:off x="502920" y="4663440"/>
            <a:ext cx="77724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Text 16"/>
          <p:cNvSpPr/>
          <p:nvPr/>
        </p:nvSpPr>
        <p:spPr>
          <a:xfrm>
            <a:off x="502920" y="47548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000" i="1" noProof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conocimiento de cómo funciona el sistema es el activo más valioso del equipo. Atlas lo hace visible."</a:t>
            </a:r>
            <a:endParaRPr lang="es-CL" sz="10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749</Words>
  <Application>Microsoft Office PowerPoint</Application>
  <PresentationFormat>Presentación en pantalla (16:9)</PresentationFormat>
  <Paragraphs>157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— El Mapa Vivo del Software</dc:title>
  <dc:subject>PptxGenJS Presentation</dc:subject>
  <dc:creator>Atlas</dc:creator>
  <cp:lastModifiedBy>Gabriel Díaz</cp:lastModifiedBy>
  <cp:revision>2</cp:revision>
  <dcterms:created xsi:type="dcterms:W3CDTF">2026-04-06T19:07:10Z</dcterms:created>
  <dcterms:modified xsi:type="dcterms:W3CDTF">2026-04-06T19:39:25Z</dcterms:modified>
</cp:coreProperties>
</file>